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7432"/>
          </a:xfrm>
          <a:prstGeom prst="rect">
            <a:avLst/>
          </a:prstGeom>
          <a:solidFill>
            <a:srgbClr val="D4A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888"/>
                </a:solidFill>
                <a:latin typeface="Calibri"/>
              </a:defRPr>
            </a:pPr>
            <a:r>
              <a:t>ROBERTO CALVO PRODUCTIONS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0E8D8"/>
                </a:solidFill>
                <a:latin typeface="Calibri"/>
              </a:defRPr>
            </a:pPr>
            <a:r>
              <a:t>SIGILLUM MAXIMUM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4A747"/>
                </a:solidFill>
                <a:latin typeface="Calibri"/>
              </a:defRPr>
            </a:pPr>
            <a:r>
              <a:t>The Seal of the Seven Secrets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9888"/>
                </a:solidFill>
                <a:latin typeface="Calibri"/>
              </a:defRPr>
            </a:pPr>
            <a:r>
              <a:t>An Epic Fantasy Universe Ready for Adaptation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888"/>
                </a:solidFill>
                <a:latin typeface="Calibri"/>
              </a:defRPr>
            </a:pPr>
            <a:r>
              <a:t>by Eleanor Lian · Published by Roberto Calvo Productions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8D8"/>
                </a:solidFill>
                <a:latin typeface="Calibri"/>
              </a:defRPr>
            </a:pPr>
            <a:r>
              <a:t>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747"/>
                </a:solidFill>
                <a:latin typeface="Calibri"/>
              </a:defRPr>
            </a:pPr>
            <a:r>
              <a:t>LOGLINE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058400" cy="1097280"/>
          </a:xfrm>
          <a:prstGeom prst="roundRect">
            <a:avLst/>
          </a:prstGeom>
          <a:solidFill>
            <a:srgbClr val="0F0F1A"/>
          </a:solidFill>
          <a:ln w="12700">
            <a:solidFill>
              <a:srgbClr val="D4A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D4A747"/>
                </a:solidFill>
                <a:latin typeface="Calibri"/>
              </a:defRPr>
            </a:pPr>
            <a:r>
              <a:t>"A princess. Seven seals. One choice that will save — or shatter — the Great Universal Realm."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747"/>
                </a:solidFill>
                <a:latin typeface="Calibri"/>
              </a:defRPr>
            </a:pPr>
            <a:r>
              <a:t>SYNOPSIS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Princess Aileen is 13 when a mysterious Black Knight invades Nuvolandia, turning her mother to stone and capturing her father.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The Sigillum Maximum — the ancient golden scroll protecting all seven realms — has been stolen.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Sent through a hidden passage to the Elf Kingdom, Aileen must find Aeltiàfisar, the legendary Knight of the Golden Light.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Together with fierce orc Grogher and the enigmatic Dorcha, she embarks on a perilous quest across all seven realms.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Each kingdom holds a secret of the Sigillum — but the final secret may demand a sacrifice no one is ready to make.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8D8"/>
                </a:solidFill>
                <a:latin typeface="Calibri"/>
              </a:defRPr>
            </a:pPr>
            <a:r>
              <a:t>The Great Universal Realm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888"/>
                </a:solidFill>
                <a:latin typeface="Calibri"/>
              </a:defRPr>
            </a:pPr>
            <a:r>
              <a:t>A universe of seven kingdoms, each with its own magic, culture, and secret.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747"/>
                </a:solidFill>
                <a:latin typeface="Calibri"/>
              </a:defRPr>
            </a:pPr>
            <a:r>
              <a:t>☁️ Nuvolandia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88"/>
                </a:solidFill>
                <a:latin typeface="Calibri"/>
              </a:defRPr>
            </a:pPr>
            <a:r>
              <a:t>The Cloud Kingdom. Moonstone castles, beings in telepathic contact with the skies.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747"/>
                </a:solidFill>
                <a:latin typeface="Calibri"/>
              </a:defRPr>
            </a:pPr>
            <a:r>
              <a:t>🌿 Elf Kingdom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423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88"/>
                </a:solidFill>
                <a:latin typeface="Calibri"/>
              </a:defRPr>
            </a:pPr>
            <a:r>
              <a:t>Towering forests of luminous trees. Home to Aeltiàfisar and King Baelkers.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747"/>
                </a:solidFill>
                <a:latin typeface="Calibri"/>
              </a:defRPr>
            </a:pPr>
            <a:r>
              <a:t>⛰️ Gnome Kingdom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017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88"/>
                </a:solidFill>
                <a:latin typeface="Calibri"/>
              </a:defRPr>
            </a:pPr>
            <a:r>
              <a:t>Kingdom of the Two Rainbows. Subterranean crystals, Pallafiocco tournaments.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747"/>
                </a:solidFill>
                <a:latin typeface="Calibri"/>
              </a:defRPr>
            </a:pPr>
            <a:r>
              <a:t>🌊 Merfolk Kingdom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1187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88"/>
                </a:solidFill>
                <a:latin typeface="Calibri"/>
              </a:defRPr>
            </a:pPr>
            <a:r>
              <a:t>Coral palaces, mother-of-pearl gowns. Secrets of the deep unknown to elves.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747"/>
                </a:solidFill>
                <a:latin typeface="Calibri"/>
              </a:defRPr>
            </a:pPr>
            <a:r>
              <a:t>🏔️ Dwarf Kingdom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206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88"/>
                </a:solidFill>
                <a:latin typeface="Calibri"/>
              </a:defRPr>
            </a:pPr>
            <a:r>
              <a:t>Forged in mountains. Masters of craft, stone, and ancient metallurgy.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747"/>
                </a:solidFill>
                <a:latin typeface="Calibri"/>
              </a:defRPr>
            </a:pPr>
            <a:r>
              <a:t>⚡ Storm Kingdom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800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88"/>
                </a:solidFill>
                <a:latin typeface="Calibri"/>
              </a:defRPr>
            </a:pPr>
            <a:r>
              <a:t>Perpetual tempests. Home to orcs. A secret buried in thunder.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747"/>
                </a:solidFill>
                <a:latin typeface="Calibri"/>
              </a:defRPr>
            </a:pPr>
            <a:r>
              <a:t>✨ Realm of the Great 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394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88"/>
                </a:solidFill>
                <a:latin typeface="Calibri"/>
              </a:defRPr>
            </a:pPr>
            <a:r>
              <a:t>Legendary domain of Immortal Sovereigns. Source of the Sigillum Maximum.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8D8"/>
                </a:solidFill>
                <a:latin typeface="Calibri"/>
              </a:defRPr>
            </a:pPr>
            <a:r>
              <a:t>Main Characters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8D8"/>
                </a:solidFill>
                <a:latin typeface="Calibri"/>
              </a:defRPr>
            </a:pPr>
            <a:r>
              <a:t>Aileen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747"/>
                </a:solidFill>
                <a:latin typeface="Calibri"/>
              </a:defRPr>
            </a:pPr>
            <a:r>
              <a:t>Protagonist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88"/>
                </a:solidFill>
                <a:latin typeface="Calibri"/>
              </a:defRPr>
            </a:pPr>
            <a:r>
              <a:t>Princess of Nuvolandia. 13 years old. Brave, compassionate, growing into a leader.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8D8"/>
                </a:solidFill>
                <a:latin typeface="Calibri"/>
              </a:defRPr>
            </a:pPr>
            <a:r>
              <a:t>Dorcha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747"/>
                </a:solidFill>
                <a:latin typeface="Calibri"/>
              </a:defRPr>
            </a:pPr>
            <a:r>
              <a:t>The Knight with Darkness in His Blood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88"/>
                </a:solidFill>
                <a:latin typeface="Calibri"/>
              </a:defRPr>
            </a:pPr>
            <a:r>
              <a:t>Raised by orcs. Carries a darkness that may save — or doom — the realm.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8D8"/>
                </a:solidFill>
                <a:latin typeface="Calibri"/>
              </a:defRPr>
            </a:pPr>
            <a:r>
              <a:t>Grogher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747"/>
                </a:solidFill>
                <a:latin typeface="Calibri"/>
              </a:defRPr>
            </a:pPr>
            <a:r>
              <a:t>The Fierce Orc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88"/>
                </a:solidFill>
                <a:latin typeface="Calibri"/>
              </a:defRPr>
            </a:pPr>
            <a:r>
              <a:t>Separated from his family. Immense strength and loyalty. Accompanied by winged lion Sidae.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8D8"/>
                </a:solidFill>
                <a:latin typeface="Calibri"/>
              </a:defRPr>
            </a:pPr>
            <a:r>
              <a:t>Aeltiàfisar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747"/>
                </a:solidFill>
                <a:latin typeface="Calibri"/>
              </a:defRPr>
            </a:pPr>
            <a:r>
              <a:t>Knight of the Golden 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88"/>
                </a:solidFill>
                <a:latin typeface="Calibri"/>
              </a:defRPr>
            </a:pPr>
            <a:r>
              <a:t>Legendary elven knight. Ancient, wise. Aileen's guide and mentor.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8D8"/>
                </a:solidFill>
                <a:latin typeface="Calibri"/>
              </a:defRPr>
            </a:pPr>
            <a:r>
              <a:t>Majory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747"/>
                </a:solidFill>
                <a:latin typeface="Calibri"/>
              </a:defRPr>
            </a:pPr>
            <a:r>
              <a:t>Gnome Princess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88"/>
                </a:solidFill>
                <a:latin typeface="Calibri"/>
              </a:defRPr>
            </a:pPr>
            <a:r>
              <a:t>Competitive, caring. Must break an ancient curse upon her family.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8D8"/>
                </a:solidFill>
                <a:latin typeface="Calibri"/>
              </a:defRPr>
            </a:pPr>
            <a:r>
              <a:t>King Eadwig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747"/>
                </a:solidFill>
                <a:latin typeface="Calibri"/>
              </a:defRPr>
            </a:pPr>
            <a:r>
              <a:t>King of Nuvolandia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88"/>
                </a:solidFill>
                <a:latin typeface="Calibri"/>
              </a:defRPr>
            </a:pPr>
            <a:r>
              <a:t>Turned to stone. His fate drives Aileen's quest.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8D8"/>
                </a:solidFill>
                <a:latin typeface="Calibri"/>
              </a:defRPr>
            </a:pPr>
            <a:r>
              <a:t>Queen Eloria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747"/>
                </a:solidFill>
                <a:latin typeface="Calibri"/>
              </a:defRPr>
            </a:pPr>
            <a:r>
              <a:t>Queen of Nuvolandia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88"/>
                </a:solidFill>
                <a:latin typeface="Calibri"/>
              </a:defRPr>
            </a:pPr>
            <a:r>
              <a:t>Transformed into a statue. Symbol of all Aileen fights to restore.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8D8"/>
                </a:solidFill>
                <a:latin typeface="Calibri"/>
              </a:defRPr>
            </a:pPr>
            <a:r>
              <a:t>Themes &amp; Core Conflict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888"/>
                </a:solidFill>
                <a:latin typeface="Calibri"/>
              </a:defRPr>
            </a:pPr>
            <a:r>
              <a:t>A story about growing up, loss, love, and the choices that define who we become.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747"/>
                </a:solidFill>
                <a:latin typeface="Calibri"/>
              </a:defRPr>
            </a:pPr>
            <a:r>
              <a:t>✦ Courage in Vulnerability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88"/>
                </a:solidFill>
                <a:latin typeface="Calibri"/>
              </a:defRPr>
            </a:pPr>
            <a:r>
              <a:t>Aileen is not a warrior — she is a girl who must find strength in kindness, empathy, and the will to keep going.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747"/>
                </a:solidFill>
                <a:latin typeface="Calibri"/>
              </a:defRPr>
            </a:pPr>
            <a:r>
              <a:t>✦ The Cost of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06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88"/>
                </a:solidFill>
                <a:latin typeface="Calibri"/>
              </a:defRPr>
            </a:pPr>
            <a:r>
              <a:t>Every secret of the Sigillum has a price. The final seal demands a sacrifice that tests the very meaning of love.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747"/>
                </a:solidFill>
                <a:latin typeface="Calibri"/>
              </a:defRPr>
            </a:pPr>
            <a:r>
              <a:t>✦ Found Family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83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88"/>
                </a:solidFill>
                <a:latin typeface="Calibri"/>
              </a:defRPr>
            </a:pPr>
            <a:r>
              <a:t>Aileen, Grogher, Dorcha — each broken in their own way — form a bond stronger than blood.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747"/>
                </a:solidFill>
                <a:latin typeface="Calibri"/>
              </a:defRPr>
            </a:pPr>
            <a:r>
              <a:t>✦ Light vs. Darkness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60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88"/>
                </a:solidFill>
                <a:latin typeface="Calibri"/>
              </a:defRPr>
            </a:pPr>
            <a:r>
              <a:t>Not a simple battle. Dorcha embodies both. The story asks: can darkness be redeemed?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747"/>
                </a:solidFill>
                <a:latin typeface="Calibri"/>
              </a:defRPr>
            </a:pPr>
            <a:r>
              <a:t>✦ Loss &amp; Transformation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93775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88"/>
                </a:solidFill>
                <a:latin typeface="Calibri"/>
              </a:defRPr>
            </a:pPr>
            <a:r>
              <a:t>Every character loses something. The question is what they become through that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8D8"/>
                </a:solidFill>
                <a:latin typeface="Calibri"/>
              </a:defRPr>
            </a:pPr>
            <a:r>
              <a:t>Market &amp;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747"/>
                </a:solidFill>
                <a:latin typeface="Calibri"/>
              </a:defRPr>
            </a:pPr>
            <a:r>
              <a:t>Target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Teens &amp; Young Adults (13–25) — core demographic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Fantasy readers (Sanderson, Maas, Tolkien audiences)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Anime &amp; manga fans worldwide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Western animation / streaming audiences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Family co-viewing appeal (emotional depth, not just action)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747"/>
                </a:solidFill>
                <a:latin typeface="Calibri"/>
              </a:defRPr>
            </a:pPr>
            <a:r>
              <a:t>Market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Fantasy adaptation is the dominant genre in streaming (2024-26)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Strong demand for female-led epic fantasy (Arcane, The Dragon Prince)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Anime-style Western co-productions growing rapidly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Multi-platform potential: series + games + publishing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Comparable IP valuations: $50M–$200M for top fantasy adaptations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888"/>
                </a:solidFill>
                <a:latin typeface="Calibri"/>
              </a:defRPr>
            </a:pPr>
            <a:r>
              <a:t>The fantasy adaptation market is projected to grow 12.4% annually through 2030.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8D8"/>
                </a:solidFill>
                <a:latin typeface="Calibri"/>
              </a:defRPr>
            </a:pPr>
            <a:r>
              <a:t>Proposed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888"/>
                </a:solidFill>
                <a:latin typeface="Calibri"/>
              </a:defRPr>
            </a:pPr>
            <a:r>
              <a:t>A project designed for both anime series and film trilogies — ready for studio interest.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747"/>
                </a:solidFill>
                <a:latin typeface="Calibri"/>
              </a:defRPr>
            </a:pPr>
            <a:r>
              <a:t>🎬 Option A: Anime TV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12–24 episodes, 24 minutes each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One major kingdom arc per 3-4 episodes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Season 1: Nuvolandia → Elf Kingdom → Gnome Kingdom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Season 2: Merfolk → Dwarf → Storm → Great Light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Open for simulcast / co-production with Japanese studios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Comparable: The Ancient Magus' Bride, Made in Abyss, Frieren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747"/>
                </a:solidFill>
                <a:latin typeface="Calibri"/>
              </a:defRPr>
            </a:pPr>
            <a:r>
              <a:t>🎥 Option B: Live-Action / CGI Trilogy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Film 1: The Shattering — 120 min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Film 2: The Journey — 130 min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Film 3: The Final Seal — 140 min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Visual style: rich CGI akin to Ghibli meets Final Fantasy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Also viable as high-end limited series (8-10 episodes)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Comparable: The NeverEnding Story, How to Train Your Dragon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8D8"/>
                </a:solidFill>
                <a:latin typeface="Calibri"/>
              </a:defRPr>
            </a:pPr>
            <a:r>
              <a:t>What We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747"/>
                </a:solidFill>
                <a:latin typeface="Calibri"/>
              </a:defRPr>
            </a:pPr>
            <a:r>
              <a:t>Rights Available: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Anime / TV / Streaming adaptation rights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Film adaptation rights (live-action or animated)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Video game / interactive media rights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Merchandising &amp; licensing rights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Publishing rights (expanded universe, art books)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747"/>
                </a:solidFill>
                <a:latin typeface="Calibri"/>
              </a:defRPr>
            </a:pPr>
            <a:r>
              <a:t>Existing Assets: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Full manuscript — complete, ready for production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55+ character &amp; concept artworks (AI-assisted, iterable)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Fully developed world bible (7 realms, history, magic system)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Detailed character profiles and arc outlines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Proven cross-platform model (BlaBlaSell, FanCake ecosystem)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8D8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747"/>
                </a:solidFill>
                <a:latin typeface="Calibri"/>
              </a:defRPr>
            </a:pPr>
            <a:r>
              <a:t>Phase 1 —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✦ Landing page live (sigillummaximum.com)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✦ Pitch deck &amp; production materials ready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✦ Securing initial producer conversations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✦ Finalizing manuscript for publisher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747"/>
                </a:solidFill>
                <a:latin typeface="Calibri"/>
              </a:defRPr>
            </a:pPr>
            <a:r>
              <a:t>Phase 2 — 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✦ Publisher submission (US &amp; UK markets)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✦ Studio pitch meetings (anime &amp; live-action)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✦ Production partner identification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✦ Expanded universe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747"/>
                </a:solidFill>
                <a:latin typeface="Calibri"/>
              </a:defRPr>
            </a:pPr>
            <a:r>
              <a:t>Phase 3 —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✦ Co-production agreement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✦ Pre-production &amp; concept development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✦ Casting / studio partnership</a:t>
            </a:r>
          </a:p>
          <a:p>
            <a:pPr>
              <a:spcAft>
                <a:spcPts val="800"/>
              </a:spcAft>
              <a:defRPr sz="1400">
                <a:solidFill>
                  <a:srgbClr val="E0DCD5"/>
                </a:solidFill>
                <a:latin typeface="Calibri"/>
              </a:defRPr>
            </a:pPr>
            <a:r>
              <a:t>✦ B2B launch at major industry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747"/>
                </a:solidFill>
                <a:latin typeface="Calibri"/>
              </a:defRPr>
            </a:pPr>
            <a:r>
              <a:t>We are seeking: Co-production partners · Streamers · Publishers · Game developers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7432"/>
          </a:xfrm>
          <a:prstGeom prst="rect">
            <a:avLst/>
          </a:prstGeom>
          <a:solidFill>
            <a:srgbClr val="D4A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0E8D8"/>
                </a:solidFill>
                <a:latin typeface="Calibri"/>
              </a:defRPr>
            </a:pPr>
            <a:r>
              <a:t>Let's Build Something Extraordinary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747"/>
                </a:solidFill>
                <a:latin typeface="Calibri"/>
              </a:defRPr>
            </a:pPr>
            <a:r>
              <a:t>Roberto Calvo Productions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9888"/>
                </a:solidFill>
                <a:latin typeface="Calibri"/>
              </a:defRPr>
            </a:pPr>
            <a:r>
              <a:t>71-75 Shelton Street · London · WC2H 9JQ · United Kingdom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747"/>
                </a:solidFill>
                <a:latin typeface="Calibri"/>
              </a:defRPr>
            </a:pPr>
            <a:r>
              <a:t>info@robertocalvoproductions.com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888"/>
                </a:solidFill>
                <a:latin typeface="Calibri"/>
              </a:defRPr>
            </a:pPr>
            <a:r>
              <a:t>robertocalvoproductions.com · sigillummaximum.com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9888"/>
                </a:solidFill>
                <a:latin typeface="Calibri"/>
              </a:defRPr>
            </a:pPr>
            <a:r>
              <a:t>Eleanor Lian presents: Sigillum Maximum — The Seal of the Seven Secrets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